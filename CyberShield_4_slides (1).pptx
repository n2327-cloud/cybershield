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f7ccb25-08d6-3a19-d713-a196efb17681}">
          <p14:sldIdLst>
            <p14:sldId id="256"/>
          </p14:sldIdLst>
        </p14:section>
        <p14:section name="Problem" id="{4a9fc6e9-5014-1a81-b928-e4b2ba2bdf78}">
          <p14:sldIdLst>
            <p14:sldId id="257"/>
          </p14:sldIdLst>
        </p14:section>
        <p14:section name="Solution" id="{4ef81153-e0be-fc93-2d45-e7e2069e3151}">
          <p14:sldIdLst>
            <p14:sldId id="258"/>
          </p14:sldIdLst>
        </p14:section>
        <p14:section name="Prototype" id="{aedff4e7-0eb7-1049-8430-7a4298afd379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is CyberShield, an AI-assisted phishing detection system designed to help users identify suspicious messages and links. (~20 seconds)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receiving a message saying your bank account will be blocked in 30 minutes. It looks genuine and has a verification link. How does an ordinary user know? Explain phishing, social engineering, urgency, impersonation, then the real incidents: India's ₹22,845 crore cyber-fraud losses in 2024 (MHA), $470M lost to text scams in the US in 2024 (FTC), and the $100M+ fake-invoice phishing of Google and Facebook. Finish: how can we help users assess risk BEFORE they interact? (1–1.5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provides a message or URL. We preprocess it, extract phishing-related features, pass them to our classifier, and generate a risk score and classification. We also explain the indicators so the user understands the decision. (~1 minute)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prototype. Paste: URGENT! Your bank account will be blocked. Verify immediately… Click Analyze, show the phishing result, then try a legitimate message and show the safe result. (1–2 minutes)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822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CYBERSHIELD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6DF"/>
                </a:solidFill>
              </a:rPr>
              <a:t>AI-Powered Phishing Detection &amp; Risk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548640" cy="36576"/>
          </a:xfrm>
          <a:prstGeom prst="rect">
            <a:avLst/>
          </a:prstGeom>
          <a:solidFill>
            <a:srgbClr val="6AA3F0"/>
          </a:solidFill>
          <a:ln/>
        </p:spPr>
      </p:sp>
      <p:sp>
        <p:nvSpPr>
          <p:cNvPr id="5" name="Details"/>
          <p:cNvSpPr txBox="1"/>
          <p:nvPr/>
        </p:nvSpPr>
        <p:spPr>
          <a:xfrm>
            <a:off x="548640" y="2743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Problem Domain: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Cybersecurity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Technology: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Machine Learning + NLP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Presented by: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Your Name / Team Members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Department | College</a:t>
            </a:r>
            <a:endParaRPr lang="en-US" sz="1300" dirty="0"/>
          </a:p>
        </p:txBody>
      </p:sp>
      <p:sp>
        <p:nvSpPr>
          <p:cNvPr id="6" name="Suspicious message card"/>
          <p:cNvSpPr/>
          <p:nvPr/>
        </p:nvSpPr>
        <p:spPr>
          <a:xfrm>
            <a:off x="5212080" y="731520"/>
            <a:ext cx="338328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rgbClr val="C62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822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Suspicious SMS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097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“Your account will be suspended! Verify immediately…”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6DF"/>
                </a:solidFill>
              </a:rPr>
              <a:t>CyberShield reads it</a:t>
            </a:r>
            <a:endParaRPr lang="en-US" sz="1100" dirty="0"/>
          </a:p>
        </p:txBody>
      </p:sp>
      <p:pic>
        <p:nvPicPr>
          <p:cNvPr id="10" name="Interface result" descr="CyberShield result showing 96% Phishing det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468880"/>
            <a:ext cx="3383280" cy="11430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212080" y="37033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3A5B5"/>
                </a:solidFill>
              </a:rPr>
              <a:t>Real output from the working prototype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Phishing is getting harder to recognize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Phishing is a social-engineering attack: an attacker impersonates a trusted entity to trick a victim into revealing sensitive information or opening a malicious link. Modern attacks rely on impersonation, not obviously fake emails.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Attackers exploit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Trust: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impersonating banks, companies, government services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Urgency: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“Act within 30 minutes”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Fear: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“Your account will be blocked”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Rewards: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“You've won ₹50,000”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chemeClr val="tx1"/>
                </a:solidFill>
              </a:rPr>
              <a:t>Malicious links: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redirecting users to fake websites</a:t>
            </a:r>
            <a:endParaRPr lang="en-US" sz="1150" dirty="0"/>
          </a:p>
        </p:txBody>
      </p:sp>
      <p:sp>
        <p:nvSpPr>
          <p:cNvPr id="6" name="Incident card 1"/>
          <p:cNvSpPr/>
          <p:nvPr/>
        </p:nvSpPr>
        <p:spPr>
          <a:xfrm>
            <a:off x="4663440" y="100584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097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₹22,845 cr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India, 2024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0789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Lost to cyber fraud, up 206% from ₹7,465 cr in 2023 (Ministry of Home Affairs, Lok Sabha).</a:t>
            </a:r>
            <a:endParaRPr lang="en-US" sz="1000" dirty="0"/>
          </a:p>
        </p:txBody>
      </p:sp>
      <p:sp>
        <p:nvSpPr>
          <p:cNvPr id="10" name="Incident card 2"/>
          <p:cNvSpPr/>
          <p:nvPr/>
        </p:nvSpPr>
        <p:spPr>
          <a:xfrm>
            <a:off x="4663440" y="20116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$470M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514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US, 2024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0848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Lost to scams that began as text messages, 5× 2020: fake bank alerts, delivery and toll texts (FTC).</a:t>
            </a:r>
            <a:endParaRPr lang="en-US" sz="1000" dirty="0"/>
          </a:p>
        </p:txBody>
      </p:sp>
      <p:sp>
        <p:nvSpPr>
          <p:cNvPr id="14" name="Incident card 3"/>
          <p:cNvSpPr/>
          <p:nvPr/>
        </p:nvSpPr>
        <p:spPr>
          <a:xfrm>
            <a:off x="4663440" y="30175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3108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$100M+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520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Google &amp; Facebook, 2013–15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0906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Paid fake invoices from a spoofed “Quanta Computer”; the fraudster pleaded guilty (US DOJ).</a:t>
            </a:r>
            <a:endParaRPr lang="en-US" sz="1000" dirty="0"/>
          </a:p>
        </p:txBody>
      </p:sp>
      <p:sp>
        <p:nvSpPr>
          <p:cNvPr id="18" name="Engineering problem band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Engineering problem: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users get convincing messages but have no simple, explainable way to judge a message or URL before interacting. The challenge is not only detecting phishing, but helping users recognize the threat BEFORE they click.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Our solution: AI-assisted phishing detection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The user pastes a message or URL; CyberShield detects phishing indicators and returns a risk score with an explanation.</a:t>
            </a:r>
            <a:endParaRPr lang="en-US" sz="1150" dirty="0"/>
          </a:p>
        </p:txBody>
      </p:sp>
      <p:sp>
        <p:nvSpPr>
          <p:cNvPr id="4" name="Step 1"/>
          <p:cNvSpPr/>
          <p:nvPr/>
        </p:nvSpPr>
        <p:spPr>
          <a:xfrm>
            <a:off x="45720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Message / URL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73736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11096" y="1828800"/>
            <a:ext cx="20116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ep 2"/>
          <p:cNvSpPr/>
          <p:nvPr/>
        </p:nvSpPr>
        <p:spPr>
          <a:xfrm>
            <a:off x="214884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21992" y="13716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Preprocessing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21992" y="173736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Text + 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02736" y="1828800"/>
            <a:ext cx="20116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Step 3"/>
          <p:cNvSpPr/>
          <p:nvPr/>
        </p:nvSpPr>
        <p:spPr>
          <a:xfrm>
            <a:off x="384048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3632" y="13716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Feature extraction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173736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Urgency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Suspicious words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URL patterns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Financial cues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94376" y="1828800"/>
            <a:ext cx="20116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Step 4"/>
          <p:cNvSpPr/>
          <p:nvPr/>
        </p:nvSpPr>
        <p:spPr>
          <a:xfrm>
            <a:off x="553212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13716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Classifier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05272" y="173736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Weighted risk model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86016" y="1828800"/>
            <a:ext cx="20116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0" name="Step 5"/>
          <p:cNvSpPr/>
          <p:nvPr/>
        </p:nvSpPr>
        <p:spPr>
          <a:xfrm>
            <a:off x="7223760" y="1325880"/>
            <a:ext cx="1417320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3716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Output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1737360"/>
            <a:ext cx="1271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Risk score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3" name="Output card"/>
          <p:cNvSpPr/>
          <p:nvPr/>
        </p:nvSpPr>
        <p:spPr>
          <a:xfrm>
            <a:off x="457200" y="2743200"/>
            <a:ext cx="48463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81635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Risk Score: 96%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Classification: Phishing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Reasons: urgency detected; suspicious URL; account verification request; financial context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Recommendation: Don't click the link. Verify through the organization's official website or app.</a:t>
            </a:r>
            <a:endParaRPr lang="en-US" sz="1100" dirty="0"/>
          </a:p>
        </p:txBody>
      </p:sp>
      <p:sp>
        <p:nvSpPr>
          <p:cNvPr id="25" name="Class Safe"/>
          <p:cNvSpPr/>
          <p:nvPr/>
        </p:nvSpPr>
        <p:spPr>
          <a:xfrm>
            <a:off x="5577840" y="2743200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1500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Safe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score 0–29%</a:t>
            </a:r>
            <a:endParaRPr lang="en-US" sz="1200" dirty="0"/>
          </a:p>
        </p:txBody>
      </p:sp>
      <p:sp>
        <p:nvSpPr>
          <p:cNvPr id="27" name="Class Risky"/>
          <p:cNvSpPr/>
          <p:nvPr/>
        </p:nvSpPr>
        <p:spPr>
          <a:xfrm>
            <a:off x="5577840" y="3310128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71500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Risky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score 30–64%</a:t>
            </a:r>
            <a:endParaRPr lang="en-US" sz="1200" dirty="0"/>
          </a:p>
        </p:txBody>
      </p:sp>
      <p:sp>
        <p:nvSpPr>
          <p:cNvPr id="29" name="Class Phishing"/>
          <p:cNvSpPr/>
          <p:nvPr/>
        </p:nvSpPr>
        <p:spPr>
          <a:xfrm>
            <a:off x="5577840" y="3877056"/>
            <a:ext cx="310896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1500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Phishing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   score 65–99%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Why this solution?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It combines automated detection with explainability, so non-technical users understand WHY a message is risky.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CyberShield working prototype</a:t>
            </a:r>
            <a:endParaRPr lang="en-US" sz="2200" dirty="0"/>
          </a:p>
        </p:txBody>
      </p:sp>
      <p:sp>
        <p:nvSpPr>
          <p:cNvPr id="3" name="Frame 1"/>
          <p:cNvSpPr/>
          <p:nvPr/>
        </p:nvSpPr>
        <p:spPr>
          <a:xfrm>
            <a:off x="429768" y="978408"/>
            <a:ext cx="2752344" cy="25321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Screenshot 1" descr="1. Inpu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697480" cy="24772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59284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Input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887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Paste a suspicious message or URL</a:t>
            </a:r>
            <a:endParaRPr lang="en-US" sz="1000" dirty="0"/>
          </a:p>
        </p:txBody>
      </p:sp>
      <p:sp>
        <p:nvSpPr>
          <p:cNvPr id="7" name="Frame 2"/>
          <p:cNvSpPr/>
          <p:nvPr/>
        </p:nvSpPr>
        <p:spPr>
          <a:xfrm>
            <a:off x="3195828" y="978408"/>
            <a:ext cx="2752344" cy="25321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8" name="Screenshot 2" descr="2. Result: phishing, 96%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005840"/>
            <a:ext cx="2697480" cy="247727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23260" y="359284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Result: phishing, 96%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223260" y="384887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Reasons and link check shown</a:t>
            </a:r>
            <a:endParaRPr lang="en-US" sz="1000" dirty="0"/>
          </a:p>
        </p:txBody>
      </p:sp>
      <p:sp>
        <p:nvSpPr>
          <p:cNvPr id="11" name="Frame 3"/>
          <p:cNvSpPr/>
          <p:nvPr/>
        </p:nvSpPr>
        <p:spPr>
          <a:xfrm>
            <a:off x="5961888" y="978408"/>
            <a:ext cx="2752344" cy="25321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2" name="Screenshot 3" descr="3. Genuine OTP message: safe, 2%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05840"/>
            <a:ext cx="2697480" cy="24772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89320" y="359284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Genuine OTP message: safe, 2%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989320" y="384887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Reassuring cue lowers the score</a:t>
            </a:r>
            <a:endParaRPr lang="en-US" sz="1000" dirty="0"/>
          </a:p>
        </p:txBody>
      </p:sp>
      <p:sp>
        <p:nvSpPr>
          <p:cNvPr id="15" name="Flow Input"/>
          <p:cNvSpPr/>
          <p:nvPr/>
        </p:nvSpPr>
        <p:spPr>
          <a:xfrm>
            <a:off x="457200" y="4297680"/>
            <a:ext cx="1463040" cy="45720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5720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Input</a:t>
            </a:r>
            <a:endParaRPr lang="en-US" sz="1200" dirty="0"/>
          </a:p>
        </p:txBody>
      </p:sp>
      <p:sp>
        <p:nvSpPr>
          <p:cNvPr id="17" name="Flow Analyze"/>
          <p:cNvSpPr/>
          <p:nvPr/>
        </p:nvSpPr>
        <p:spPr>
          <a:xfrm>
            <a:off x="2148840" y="4297680"/>
            <a:ext cx="1463040" cy="45720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214884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Analyze</a:t>
            </a:r>
            <a:endParaRPr lang="en-US" sz="1200" dirty="0"/>
          </a:p>
        </p:txBody>
      </p:sp>
      <p:sp>
        <p:nvSpPr>
          <p:cNvPr id="19" name="Flow Detect"/>
          <p:cNvSpPr/>
          <p:nvPr/>
        </p:nvSpPr>
        <p:spPr>
          <a:xfrm>
            <a:off x="3840480" y="4297680"/>
            <a:ext cx="1463040" cy="45720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384048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Detect</a:t>
            </a:r>
            <a:endParaRPr lang="en-US" sz="1200" dirty="0"/>
          </a:p>
        </p:txBody>
      </p:sp>
      <p:sp>
        <p:nvSpPr>
          <p:cNvPr id="21" name="Flow Explain"/>
          <p:cNvSpPr/>
          <p:nvPr/>
        </p:nvSpPr>
        <p:spPr>
          <a:xfrm>
            <a:off x="5532120" y="4297680"/>
            <a:ext cx="1463040" cy="45720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53212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Explain</a:t>
            </a:r>
            <a:endParaRPr lang="en-US" sz="1200" dirty="0"/>
          </a:p>
        </p:txBody>
      </p:sp>
      <p:sp>
        <p:nvSpPr>
          <p:cNvPr id="23" name="Flow Protect"/>
          <p:cNvSpPr/>
          <p:nvPr/>
        </p:nvSpPr>
        <p:spPr>
          <a:xfrm>
            <a:off x="7223760" y="4297680"/>
            <a:ext cx="1463040" cy="457200"/>
          </a:xfrm>
          <a:prstGeom prst="homePlate">
            <a:avLst/>
          </a:prstGeom>
          <a:solidFill>
            <a:schemeClr val="accent4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22376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Protect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hield">
  <a:themeElements>
    <a:clrScheme name="CyberShield">
      <a:dk1>
        <a:srgbClr val="11202E"/>
      </a:dk1>
      <a:lt1>
        <a:srgbClr val="FFFFFF"/>
      </a:lt1>
      <a:dk2>
        <a:srgbClr val="0F2A43"/>
      </a:dk2>
      <a:lt2>
        <a:srgbClr val="EAF0F4"/>
      </a:lt2>
      <a:accent1>
        <a:srgbClr val="1F5FBF"/>
      </a:accent1>
      <a:accent2>
        <a:srgbClr val="C62F3A"/>
      </a:accent2>
      <a:accent3>
        <a:srgbClr val="B7791F"/>
      </a:accent3>
      <a:accent4>
        <a:srgbClr val="1B8A5A"/>
      </a:accent4>
      <a:accent5>
        <a:srgbClr val="5A6B7A"/>
      </a:accent5>
      <a:accent6>
        <a:srgbClr val="CBD6DF"/>
      </a:accent6>
      <a:hlink>
        <a:srgbClr val="1F5FBF"/>
      </a:hlink>
      <a:folHlink>
        <a:srgbClr val="5A6B7A"/>
      </a:folHlink>
    </a:clrScheme>
    <a:fontScheme name="CyberShiel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CyberShield – AI-Powered Phishing Detection</dc:title>
  <dc:subject>PptxGenJS Presentation</dc:subject>
  <dc:creator>PptxGenJS</dc:creator>
  <cp:lastModifiedBy>PptxGenJS</cp:lastModifiedBy>
  <cp:revision>1</cp:revision>
  <dcterms:created xsi:type="dcterms:W3CDTF">2026-10-08T04:57:10Z</dcterms:created>
  <dcterms:modified xsi:type="dcterms:W3CDTF">2026-10-08T04:57:10Z</dcterms:modified>
</cp:coreProperties>
</file>